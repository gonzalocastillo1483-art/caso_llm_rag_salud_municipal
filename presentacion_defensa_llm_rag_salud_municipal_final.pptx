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eeabbeda94e1c" /><Relationship Type="http://schemas.openxmlformats.org/officeDocument/2006/relationships/extended-properties" Target="/docProps/app.xml" Id="Rebf638a8f7364e53" /><Relationship Type="http://schemas.openxmlformats.org/officeDocument/2006/relationships/officeDocument" Target="/ppt/presentation.xml" Id="R8619f619dbf34f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15f425cc44675"/>
  </p:sldMasterIdLst>
  <p:notesMasterIdLst>
    <p:notesMasterId xmlns:r="http://schemas.openxmlformats.org/officeDocument/2006/relationships" r:id="R0407d4d7047b478c"/>
  </p:notesMasterIdLst>
  <p:sldIdLst>
    <p:sldId xmlns:r="http://schemas.openxmlformats.org/officeDocument/2006/relationships" id="256" r:id="R97b600053fd441b3"/>
    <p:sldId xmlns:r="http://schemas.openxmlformats.org/officeDocument/2006/relationships" id="257" r:id="R17c3ee85679646b8"/>
    <p:sldId xmlns:r="http://schemas.openxmlformats.org/officeDocument/2006/relationships" id="258" r:id="Rda8e1ca3a9ba4f95"/>
    <p:sldId xmlns:r="http://schemas.openxmlformats.org/officeDocument/2006/relationships" id="259" r:id="R52964b155c154c99"/>
    <p:sldId xmlns:r="http://schemas.openxmlformats.org/officeDocument/2006/relationships" id="260" r:id="Rf71260439e1b489c"/>
    <p:sldId xmlns:r="http://schemas.openxmlformats.org/officeDocument/2006/relationships" id="261" r:id="R435480a5e4034737"/>
    <p:sldId xmlns:r="http://schemas.openxmlformats.org/officeDocument/2006/relationships" id="262" r:id="R6bb11299f32c4a63"/>
    <p:sldId xmlns:r="http://schemas.openxmlformats.org/officeDocument/2006/relationships" id="263" r:id="Rff2f5aecfc1245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f37bc778f44eb" /><Relationship Type="http://schemas.openxmlformats.org/officeDocument/2006/relationships/slideMaster" Target="/ppt/slideMasters/slideMaster1.xml" Id="R52015f425cc44675" /><Relationship Type="http://schemas.openxmlformats.org/officeDocument/2006/relationships/notesMaster" Target="/ppt/notesMasters/notesMaster1.xml" Id="R0407d4d7047b478c" /><Relationship Type="http://schemas.openxmlformats.org/officeDocument/2006/relationships/presProps" Target="/ppt/presProps.xml" Id="Rcf64d173f45046ed" /><Relationship Type="http://schemas.openxmlformats.org/officeDocument/2006/relationships/tableStyles" Target="/ppt/tableStyles.xml" Id="R6a5ff7e749cd4a67" /><Relationship Type="http://schemas.openxmlformats.org/officeDocument/2006/relationships/slide" Target="/ppt/slides/slide1.xml" Id="R97b600053fd441b3" /><Relationship Type="http://schemas.openxmlformats.org/officeDocument/2006/relationships/slide" Target="/ppt/slides/slide2.xml" Id="R17c3ee85679646b8" /><Relationship Type="http://schemas.openxmlformats.org/officeDocument/2006/relationships/slide" Target="/ppt/slides/slide3.xml" Id="Rda8e1ca3a9ba4f95" /><Relationship Type="http://schemas.openxmlformats.org/officeDocument/2006/relationships/slide" Target="/ppt/slides/slide4.xml" Id="R52964b155c154c99" /><Relationship Type="http://schemas.openxmlformats.org/officeDocument/2006/relationships/slide" Target="/ppt/slides/slide5.xml" Id="Rf71260439e1b489c" /><Relationship Type="http://schemas.openxmlformats.org/officeDocument/2006/relationships/slide" Target="/ppt/slides/slide6.xml" Id="R435480a5e4034737" /><Relationship Type="http://schemas.openxmlformats.org/officeDocument/2006/relationships/slide" Target="/ppt/slides/slide7.xml" Id="R6bb11299f32c4a63" /><Relationship Type="http://schemas.openxmlformats.org/officeDocument/2006/relationships/slide" Target="/ppt/slides/slide8.xml" Id="Rff2f5aecfc12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c23f0a19b140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c5baa39b343a7" /><Relationship Type="http://schemas.openxmlformats.org/officeDocument/2006/relationships/notesMaster" Target="/ppt/notesMasters/notesMaster1.xml" Id="Rf7596b02eeaa4c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f6b3efadb46be" /><Relationship Type="http://schemas.openxmlformats.org/officeDocument/2006/relationships/notesMaster" Target="/ppt/notesMasters/notesMaster1.xml" Id="R7256b8cc62fc4d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d8f041cc048f4" /><Relationship Type="http://schemas.openxmlformats.org/officeDocument/2006/relationships/notesMaster" Target="/ppt/notesMasters/notesMaster1.xml" Id="R17757e20d8af4a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18b9d73c34ef9" /><Relationship Type="http://schemas.openxmlformats.org/officeDocument/2006/relationships/notesMaster" Target="/ppt/notesMasters/notesMaster1.xml" Id="R1cbd6eea509d41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c9f7fd6eca4c1e" /><Relationship Type="http://schemas.openxmlformats.org/officeDocument/2006/relationships/notesMaster" Target="/ppt/notesMasters/notesMaster1.xml" Id="Rd41a4bd8f985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9e69131bb462b" /><Relationship Type="http://schemas.openxmlformats.org/officeDocument/2006/relationships/notesMaster" Target="/ppt/notesMasters/notesMaster1.xml" Id="R6d9d49bf0d1d4b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95507f9048452b" /><Relationship Type="http://schemas.openxmlformats.org/officeDocument/2006/relationships/notesMaster" Target="/ppt/notesMasters/notesMaster1.xml" Id="Rc05d3cb5efcf40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97f76d921a468f" /><Relationship Type="http://schemas.openxmlformats.org/officeDocument/2006/relationships/notesMaster" Target="/ppt/notesMasters/notesMaster1.xml" Id="Ra8c704e8734a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problema, no con la tecnología.</a:t>
            </a:r>
          </a:p>
          <a:p xmlns:a="http://schemas.openxmlformats.org/drawingml/2006/main">
            <a:r>
              <a:t>Decir que el caso usa una municipalidad ficticia para proteger datos, pero el proceso es realista para CESFAM, SAPU, SOME y farmacia.</a:t>
            </a:r>
          </a:p>
          <a:p xmlns:a="http://schemas.openxmlformats.org/drawingml/2006/main">
            <a:r>
              <a:t>Idea central: el asistente no reemplaza decisiones clínicas, ordena información administrativa con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dolor con ejemplos: cambio de hora, retiro de medicamento, consulta por ficha clínica.</a:t>
            </a:r>
          </a:p>
          <a:p xmlns:a="http://schemas.openxmlformats.org/drawingml/2006/main">
            <a:r>
              <a:t>Remarcar que el problema no es falta de funcionarios, sino dispersión del conocimiento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slide para marcar alcance: administrativo, no clínico.</a:t>
            </a:r>
          </a:p>
          <a:p xmlns:a="http://schemas.openxmlformats.org/drawingml/2006/main">
            <a:r>
              <a:t>La frase clave es que la ausencia de evidencia no es un fallo menor, es una condición de derivación.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Caminar el flujo de izquierda a derecha.</a:t>
            </a:r>
          </a:p>
          <a:p xmlns:a="http://schemas.openxmlformats.org/drawingml/2006/main">
            <a:r>
              <a:t>Subrayar que el LLM nunca conversa solo con el usuario: antes hay recuperación y después hay verificación.</a:t>
            </a:r>
          </a:p>
          <a:p xmlns:a="http://schemas.openxmlformats.org/drawingml/2006/main">
            <a:r>
              <a:t>La auditoría guarda pregunta anonimizada, fuentes, scores y ruta de seguridad.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Nombrar explícitamente que el prototipo funciona offline.</a:t>
            </a:r>
          </a:p>
          <a:p xmlns:a="http://schemas.openxmlformats.org/drawingml/2006/main">
            <a:r>
              <a:t>Defender la decisión: en una entrega académica importa mostrar el contrato del pipeline y su trazabilidad.</a:t>
            </a:r>
          </a:p>
          <a:p xmlns:a="http://schemas.openxmlformats.org/drawingml/2006/main">
            <a:r>
              <a:t>En producción se cambia BM25 por búsqueda híbrida, pero se conserva el diseño.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Leer el ejemplo de bloqueo como caso crítico.</a:t>
            </a:r>
          </a:p>
          <a:p xmlns:a="http://schemas.openxmlformats.org/drawingml/2006/main">
            <a:r>
              <a:t>La gracia del prompt no es sonar inteligente, sino proteger el límite del sistema.</a:t>
            </a:r>
          </a:p>
          <a:p xmlns:a="http://schemas.openxmlformats.org/drawingml/2006/main">
            <a:r>
              <a:t>Mencionar que OWASP 2026 considera prompt injection, información sensible y agencia excesiva como riesgos relevantes.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el repo si hay tiempo y ejecutar la demo.</a:t>
            </a:r>
          </a:p>
          <a:p xmlns:a="http://schemas.openxmlformats.org/drawingml/2006/main">
            <a:r>
              <a:t>Las pruebas relevantes son farmacia, emergencia y anonimización.</a:t>
            </a:r>
          </a:p>
          <a:p xmlns:a="http://schemas.openxmlformats.org/drawingml/2006/main">
            <a:r>
              <a:t>Explicar que las metas del piloto sirven para pasar de prototipo 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una frase fuerte: la solución no reemplaza criterio clínico, mejora acceso a conocimiento institucional.</a:t>
            </a:r>
          </a:p>
          <a:p xmlns:a="http://schemas.openxmlformats.org/drawingml/2006/main">
            <a:r>
              <a:t>Si preguntan por el punto débil, responder: calidad documental y gobierno de datos. Por eso se propone dueño, versión y auditoría.</a:t>
            </a:r>
          </a:p>
          <a:p xmlns:a="http://schemas.openxmlformats.org/drawingml/2006/main">
            <a:r>
              <a:t>Si preguntan por producción, hablar de búsqueda híbrida, autenticación, monitoreo y evaluación supervisada.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56acc194b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00cad9dda94754" /><Relationship Type="http://schemas.openxmlformats.org/officeDocument/2006/relationships/slideLayout" Target="/ppt/slideLayouts/slideLayout1.xml" Id="Rfc2d5ad9f704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d5ad9f704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77ae75c464fba" /><Relationship Type="http://schemas.openxmlformats.org/officeDocument/2006/relationships/image" Target="/ppt/media/image.png" Id="Rc7ce49a485094797" /><Relationship Type="http://schemas.openxmlformats.org/officeDocument/2006/relationships/notesSlide" Target="/ppt/notesSlides/notesSlide1.xml" Id="Rbca4409fab0440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5f2fb3f93408b" /><Relationship Type="http://schemas.openxmlformats.org/officeDocument/2006/relationships/notesSlide" Target="/ppt/notesSlides/notesSlide2.xml" Id="R8a4c2f1c5140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b925a14534ee9" /><Relationship Type="http://schemas.openxmlformats.org/officeDocument/2006/relationships/notesSlide" Target="/ppt/notesSlides/notesSlide3.xml" Id="Re93048be088d49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65e8a99df4e30" /><Relationship Type="http://schemas.openxmlformats.org/officeDocument/2006/relationships/notesSlide" Target="/ppt/notesSlides/notesSlide4.xml" Id="R0abfca59c3be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e8fc307084ea4" /><Relationship Type="http://schemas.openxmlformats.org/officeDocument/2006/relationships/notesSlide" Target="/ppt/notesSlides/notesSlide5.xml" Id="Rc67f3937fbd242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d15b730324e5d" /><Relationship Type="http://schemas.openxmlformats.org/officeDocument/2006/relationships/notesSlide" Target="/ppt/notesSlides/notesSlide6.xml" Id="R9713cd4790514a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d685c86264d26" /><Relationship Type="http://schemas.openxmlformats.org/officeDocument/2006/relationships/notesSlide" Target="/ppt/notesSlides/notesSlide7.xml" Id="R3bcaf29615ba4d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6d34c4f74d17" /><Relationship Type="http://schemas.openxmlformats.org/officeDocument/2006/relationships/notesSlide" Target="/ppt/notesSlides/notesSlide8.xml" Id="R0459ce5122374b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e49a4850947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74ABB-82F3-4F81-933A-86D5B964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8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54C19-0D53-41C9-B6BF-A7F202D0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Asistente RAG para atención primaria municipal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3A974-B8FF-4362-A09D-76418FB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C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CEF"/>
                </a:solidFill>
                <a:latin typeface="Aptos"/>
                <a:ea typeface="Aptos"/>
                <a:cs typeface="Aptos"/>
              </a:rPr>
              <a:t>Diseño de solución con LLM, agentes y recuperación aumentada de información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90271-E3BB-494C-A62C-AE6EFF8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C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CEF"/>
                </a:solidFill>
                <a:latin typeface="Aptos"/>
                <a:ea typeface="Aptos"/>
                <a:cs typeface="Aptos"/>
              </a:rPr>
              <a:t>Caso contextualizado: Dirección de Salud Municipal de Santa Isabel</a:t>
            </a:r>
          </a:p>
        </p:txBody>
      </p:sp>
    </p:spTree>
    <p:extLst>
      <p:ext uri="{BB962C8B-B14F-4D97-AF65-F5344CB8AC3E}">
        <p14:creationId xmlns:p14="http://schemas.microsoft.com/office/powerpoint/2010/main" val="1078892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AD5DA-8177-4B06-9E6A-77C37436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Problema organizacional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C816F-4F63-4C73-BB67-3099C5A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Información dispersa produce respuestas variables y riesgo operacional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19FE3-3556-437B-BD78-5AA22CC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B4A"/>
          </a:solidFill>
          <a:ln xmlns:a="http://schemas.openxmlformats.org/drawingml/2006/main" w="0">
            <a:solidFill>
              <a:srgbClr val="3B6B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C533-0CD3-45EA-ADCE-4D5EE9C4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Protocolos, planillas, correos y circulares no siempre coinciden.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E31D0-4410-45D4-9BB1-7F5ACF45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B4A"/>
          </a:solidFill>
          <a:ln xmlns:a="http://schemas.openxmlformats.org/drawingml/2006/main" w="0">
            <a:solidFill>
              <a:srgbClr val="3B6B4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DBEA9-D1C7-45B2-A5C7-DDB55E1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El personal nuevo depende de funcionarios expertos para consultas frecuentes.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48221-B8F0-4412-A620-3F4E1224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B4A"/>
          </a:solidFill>
          <a:ln xmlns:a="http://schemas.openxmlformats.org/drawingml/2006/main" w="0">
            <a:solidFill>
              <a:srgbClr val="3B6B4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89E3B-B3C8-4369-9481-877656C0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La misma pregunta puede recibir respuestas distintas por canal o turno.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95594-8299-4782-BCA7-C7F2CF7F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6B4A"/>
          </a:solidFill>
          <a:ln xmlns:a="http://schemas.openxmlformats.org/drawingml/2006/main" w="0">
            <a:solidFill>
              <a:srgbClr val="3B6B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7CA68-3367-4569-A896-54058CB1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Las dudas clínicas o de ficha deben escalar, no improvisarse.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F1C9C-0223-43CA-97E7-058385F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857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A3B22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Impacto esperado si no se interviene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E3DA1-619D-4E4D-842C-0437C33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Demoras en atención</a:t>
            </a:r>
          </a:p>
          <a:p xmlns:a="http://schemas.openxmlformats.org/drawingml/2006/main">
            <a:pPr algn="ctr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Inconsistencia documental</a:t>
            </a:r>
          </a:p>
          <a:p xmlns:a="http://schemas.openxmlformats.org/drawingml/2006/main">
            <a:pPr algn="ctr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Riesgo de datos sensibles</a:t>
            </a:r>
          </a:p>
          <a:p xmlns:a="http://schemas.openxmlformats.org/drawingml/2006/main">
            <a:pPr algn="ctr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Mayor carga para SOME y farmacia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5EF60-90EC-4BBD-97C8-EDFA5E2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2</a:t>
            </a:r>
          </a:p>
        </p:txBody>
      </p:sp>
    </p:spTree>
    <p:extLst>
      <p:ext uri="{BB962C8B-B14F-4D97-AF65-F5344CB8AC3E}">
        <p14:creationId xmlns:p14="http://schemas.microsoft.com/office/powerpoint/2010/main" val="14345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F1A14-941A-48E0-8B24-113A7159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Objetivo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66282-C8A0-47CD-8306-02AA3BA6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Responder consultas administrativas con evidencia y escalar lo clínico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42950" y="1600200"/>
          <a:ext xmlns:a="http://schemas.openxmlformats.org/drawingml/2006/main" cx="107061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68700"/>
                <a:gridCol w="3568700"/>
                <a:gridCol w="35687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Objetivo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Cómo se logra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Límite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Centralizar documentos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Base documental vigente con dueño y versión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No incluye ficha clínica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Responder con trazabilidad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RAG con citas por documento y sección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No inventa horarios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Reducir riesgo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Guardrails de entrada y salida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No diagnostica ni prescribe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Escalar casos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Ruta a SOME, farmacia, jefatura o urgencia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No cierra casos ambiguos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E29C8-E428-46D4-8020-C5732991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35B6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35B67"/>
                </a:solidFill>
                <a:latin typeface="Aptos"/>
                <a:ea typeface="Aptos"/>
                <a:cs typeface="Aptos"/>
              </a:rPr>
              <a:t>Mensaje para la defensa: el asistente sirve cuando puede justificar cada respuesta. Si no hay fuente, la salida correcta es derivar.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585B8-37BF-4E53-9138-1088A07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3</a:t>
            </a:r>
          </a:p>
        </p:txBody>
      </p:sp>
    </p:spTree>
    <p:extLst>
      <p:ext uri="{BB962C8B-B14F-4D97-AF65-F5344CB8AC3E}">
        <p14:creationId xmlns:p14="http://schemas.microsoft.com/office/powerpoint/2010/main" val="1781714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2C106-0089-4F5D-B7E4-BECA82A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Arquitectura de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8BDC1-149B-4C66-A5F1-13DD2272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Capas separadas para controlar evidencia, seguridad y auditoría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FAFE6-6F18-47E3-8FED-B5E5246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Chat interno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858AD-B887-45D3-B7CF-69153B6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3B6B4A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33EC-D05A-4612-A9ED-EFC9032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235B67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Retriever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CB829-A563-4E6E-AE48-AFF36CB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6E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Contexto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citado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868E8-1502-4A81-A48A-D87EDCB7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73D4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AD130-62AE-4030-A7C5-E80B629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33550"/>
            <a:ext cx="13144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7A3B22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Verificador</a:t>
            </a:r>
          </a:p>
        </p:txBody>
      </p: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981200" y="21431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49C"/>
            </a:solidFill>
            <a:prstDash val="solid"/>
            <a:head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48075" y="21431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49C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314950" y="21431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49C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1431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49C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48700" y="21431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49C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6D5C3-172C-4DF2-ADF4-9B3EA695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2095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Base documental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versionada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62E6D-2E17-4599-BF89-F7C7F04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095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Auditoría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anonimizada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A5BD9-854A-431B-B555-776D6107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Controles clave: anonimización, umbral de evidencia, citas obligatorias, bloqueo de urgencias y registro sin datos sensibles.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6D893-26FF-456B-BA35-AAC63C9C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4</a:t>
            </a:r>
          </a:p>
        </p:txBody>
      </p:sp>
    </p:spTree>
    <p:extLst>
      <p:ext uri="{BB962C8B-B14F-4D97-AF65-F5344CB8AC3E}">
        <p14:creationId xmlns:p14="http://schemas.microsoft.com/office/powerpoint/2010/main" val="995672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E3220-4ABF-4A38-AD47-9841B88C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Pipeline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79F06-C937-4C72-ACD5-BA51AD03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De documentos operativos a respuesta citada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384BB-4FA5-4CC6-A3FF-21A7C25D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Ingesta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Protocolos con dueño y versión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C29E6-ED32-41BB-B0C9-A0DD930F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E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Chunking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Secciones breves citables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DBA9B-DECB-4BDC-B297-7E80BC2D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Indexación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BM25 en demo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híbrido en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D069F-95EA-4861-ACF9-BB4647B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E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Recuperación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Top k con umbral mínimo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C5D80-116D-4483-BA5F-CA427AC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Generación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Respuesta con fuentes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51E9D-72E6-4704-BBB7-1B6F2D26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81200"/>
            <a:ext cx="1428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E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Verificación</a:t>
            </a:r>
          </a:p>
          <a:p xmlns:a="http://schemas.openxmlformats.org/drawingml/2006/main">
            <a:pPr algn="ctr">
              <a:defRPr sz="13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Salida o derivación</a:t>
            </a:r>
          </a:p>
        </p:txBody>
      </p: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11455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B67"/>
            </a:solidFill>
            <a:prstDash val="solid"/>
            <a:head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2430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B67"/>
            </a:solidFill>
            <a:prstDash val="solid"/>
            <a:head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3405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B67"/>
            </a:solidFill>
            <a:prstDash val="solid"/>
            <a:head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4380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B67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53550" y="25527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B67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47882-601C-463A-BB8E-BD4969EF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942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La demo usa BM25 puro para ser ejecutable sin servicios externos. La arquitectura permite cambiarlo por búsqueda híbrida y embeddings sin tocar los guardrails.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4AD66-9378-400D-A275-C33E095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5</a:t>
            </a:r>
          </a:p>
        </p:txBody>
      </p:sp>
    </p:spTree>
    <p:extLst>
      <p:ext uri="{BB962C8B-B14F-4D97-AF65-F5344CB8AC3E}">
        <p14:creationId xmlns:p14="http://schemas.microsoft.com/office/powerpoint/2010/main" val="572804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DBF0-C1A3-438D-AF4D-C7B2996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Prompts y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31E67-1BF4-4154-9C4B-884EB49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El modelo responde solo cuando tiene evidencia suficiente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3B6B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Regla</a:t>
                      </a:r>
                    </a:p>
                  </a:txBody>
                  <a:tcPr marL="91440" marR="91440" marT="45720" marB="45720">
                    <a:solidFill>
                      <a:srgbClr val="3B6B4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Razón</a:t>
                      </a:r>
                    </a:p>
                  </a:txBody>
                  <a:tcPr marL="91440" marR="91440" marT="45720" marB="45720">
                    <a:solidFill>
                      <a:srgbClr val="3B6B4A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Sistema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No diagnosticar, no prescribir, no inventar horarios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Fija alcance antes del contexto variable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Recuperación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Anonimizar RUT, teléfono, correo y ficha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Evita indexar datos sensibles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Respuesta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Usar solo contexto recuperado y citar fuentes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Reduce alucinación y mejora auditoría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Verificación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Derivar sin evidencia o ante riesgo clínico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Prioriza seguridad institucional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058DB-CD32-428D-A7F5-4A976B32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A3B2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A3B22"/>
                </a:solidFill>
                <a:latin typeface="Aptos"/>
                <a:ea typeface="Aptos"/>
                <a:cs typeface="Aptos"/>
              </a:rPr>
              <a:t>Ejemplo de bloqueo: dolor de pecho y falta de aire no se responde con RAG. Se activa derivación a urgencia, SAPU o 131.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DA7EC-96DA-4C3B-BC48-103D3E1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6</a:t>
            </a:r>
          </a:p>
        </p:txBody>
      </p:sp>
    </p:spTree>
    <p:extLst>
      <p:ext uri="{BB962C8B-B14F-4D97-AF65-F5344CB8AC3E}">
        <p14:creationId xmlns:p14="http://schemas.microsoft.com/office/powerpoint/2010/main" val="1582735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43F22-6FB1-490A-BCAA-5AA16A6C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52D"/>
                </a:solidFill>
                <a:latin typeface="Aptos"/>
                <a:ea typeface="Aptos"/>
                <a:cs typeface="Aptos"/>
              </a:rPr>
              <a:t>Prototipo y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92110-EFCC-42B6-989E-C64C73A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972"/>
                </a:solidFill>
                <a:latin typeface="Aptos"/>
                <a:ea typeface="Aptos"/>
                <a:cs typeface="Aptos"/>
              </a:rPr>
              <a:t>Repositorio ejecutable con pruebas y métricas de piloto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B8D59-199C-48CF-B07E-AF6BE52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2095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5B67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737B3-D7D4-40BC-955C-E2401D58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python -m src.salud_rag.demo</a:t>
            </a:r>
          </a:p>
          <a:p xmlns:a="http://schemas.openxmlformats.org/drawingml/2006/main">
            <a:pPr algn="l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python -m unittest discover -s tests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810250" y="1562100"/>
          <a:ext xmlns:a="http://schemas.openxmlformats.org/drawingml/2006/main" cx="5143500" cy="2647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1714500"/>
                <a:gridCol w="1714500"/>
              </a:tblGrid>
              <a:tr h="5295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Meta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173D4F"/>
                    </a:solidFill>
                  </a:tcPr>
                </a:tc>
              </a:tr>
              <a:tr h="5295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Recuperación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Fuente correcta top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50 preguntas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Trazabilidad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&gt;= 95% con cita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Revisión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Seguridad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100% bloqueos críticos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Pruebas adversariales</a:t>
                      </a:r>
                    </a:p>
                  </a:txBody>
                  <a:tcPr marL="91440" marR="91440" marT="45720" marB="45720"/>
                </a:tc>
              </a:tr>
              <a:tr h="5295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Operación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-40% tiempo respuesta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7252D"/>
                          </a:solidFill>
                          <a:latin typeface="Aptos"/>
                          <a:ea typeface="Aptos"/>
                          <a:cs typeface="Aptos"/>
                        </a:rPr>
                        <a:t>Línea base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7D581-9EB6-4895-B605-9BF9DC36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7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2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2D"/>
                </a:solidFill>
                <a:latin typeface="Aptos"/>
                <a:ea typeface="Aptos"/>
                <a:cs typeface="Aptos"/>
              </a:rPr>
              <a:t>El prototipo demuestra el flujo completo: carga documental, recuperación, guardrails, respuesta citada y pruebas unitarias.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B01E4-78BA-4FE7-941C-C7D513F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A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A83"/>
                </a:solidFill>
                <a:latin typeface="Aptos"/>
                <a:ea typeface="Aptos"/>
                <a:cs typeface="Aptos"/>
              </a:rPr>
              <a:t>Diseño LLM y RAG para APS municipal  |  7</a:t>
            </a:r>
          </a:p>
        </p:txBody>
      </p:sp>
    </p:spTree>
    <p:extLst>
      <p:ext uri="{BB962C8B-B14F-4D97-AF65-F5344CB8AC3E}">
        <p14:creationId xmlns:p14="http://schemas.microsoft.com/office/powerpoint/2010/main" val="204713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D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C1793-8044-4C50-82DC-2EBD0AA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FE17-21F5-477A-A7BB-779923D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1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solución es defendible porque prioriza evidencia, límites y trazabilidad.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909C3-6BBE-482A-98C9-2BA8FC0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39A"/>
          </a:solidFill>
          <a:ln xmlns:a="http://schemas.openxmlformats.org/drawingml/2006/main" w="0">
            <a:solidFill>
              <a:srgbClr val="7CC39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0CA93-137B-4E6C-90FC-E16A5DCD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3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3F5"/>
                </a:solidFill>
                <a:latin typeface="Aptos"/>
                <a:ea typeface="Aptos"/>
                <a:cs typeface="Aptos"/>
              </a:rPr>
              <a:t>RAG reduce respuestas sin respaldo y permite actualización documental.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C72B-EF23-445E-BF1B-6EE3A0DD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39A"/>
          </a:solidFill>
          <a:ln xmlns:a="http://schemas.openxmlformats.org/drawingml/2006/main" w="0">
            <a:solidFill>
              <a:srgbClr val="7CC39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1B404-A45A-4622-8A30-EA80D3B7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3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3F5"/>
                </a:solidFill>
                <a:latin typeface="Aptos"/>
                <a:ea typeface="Aptos"/>
                <a:cs typeface="Aptos"/>
              </a:rPr>
              <a:t>Los agentes separan clasificación, recuperación, redacción, verificación y auditoría.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1B9F3-878A-4AC6-8BA9-EC680A3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39A"/>
          </a:solidFill>
          <a:ln xmlns:a="http://schemas.openxmlformats.org/drawingml/2006/main" w="0">
            <a:solidFill>
              <a:srgbClr val="7CC3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BC72C-6FF4-4776-989C-72713ED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F3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F3F5"/>
                </a:solidFill>
                <a:latin typeface="Aptos"/>
                <a:ea typeface="Aptos"/>
                <a:cs typeface="Aptos"/>
              </a:rPr>
              <a:t>La seguridad no queda para el final: está antes, durante y después de la generación.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9D760-5477-43BE-9E6B-B9E61AB8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75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DECE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CEF"/>
                </a:solidFill>
                <a:latin typeface="Aptos"/>
                <a:ea typeface="Aptos"/>
                <a:cs typeface="Aptos"/>
              </a:rPr>
              <a:t>Mensaje final: en atención primaria, un buen asistente no es el que responde todo, sino el que sabe cuándo citar, cuándo callar y cuándo derivar.</a:t>
            </a:r>
          </a:p>
        </p:txBody>
      </p:sp>
    </p:spTree>
    <p:extLst>
      <p:ext uri="{BB962C8B-B14F-4D97-AF65-F5344CB8AC3E}">
        <p14:creationId xmlns:p14="http://schemas.microsoft.com/office/powerpoint/2010/main" val="875673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2026-09-11T02:19:33.2010000Z</dcterms:created>
  <dcterms:modified xsi:type="dcterms:W3CDTF">2026-09-11T02:19:33.2010000Z</dcterms:modified>
</coreProperties>
</file>